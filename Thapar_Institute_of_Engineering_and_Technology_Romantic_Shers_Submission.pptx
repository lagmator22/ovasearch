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Team and university details supplied by the user.</a:t>
            </a:r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Performance values are project-reported estimates and were not independently benchmarked.</a:t>
            </a:r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Demo link, MTEB result JSON, and GitHub Release artifact status were not provided.</a:t>
            </a:r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rive.google.com/file/d/1lrPoPA8nCbHOSsjEkVldNYA3m0ZxI8St/view?usp=drive_link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drive.google.com/file/d/1lrPoPA8nCbHOSsjEkVldNYA3m0ZxI8St/view?usp=drive_link" TargetMode="External"/><Relationship Id="rId4" Type="http://schemas.openxmlformats.org/officeDocument/2006/relationships/hyperlink" Target="https://github.com/Lagmator22/OvaSearch/releases/tag/PRISM_GENAI_HACKATHON_Y2026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>
              <a:defRPr sz="4800" b="1">
                <a:solidFill>
                  <a:srgbClr val="0F0F2A"/>
                </a:solidFill>
                <a:latin typeface="Arial"/>
              </a:defRPr>
            </a:pPr>
            <a:r>
              <a:t>OvaSearch</a:t>
            </a: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>
              <a:defRPr sz="4200" b="1">
                <a:solidFill>
                  <a:srgbClr val="6D28D9"/>
                </a:solidFill>
                <a:latin typeface="Arial"/>
              </a:defRPr>
            </a:pPr>
            <a:r>
              <a:t>Multimodal RAG</a:t>
            </a: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401568"/>
            <a:ext cx="585216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646582"/>
                </a:solidFill>
                <a:latin typeface="Arial"/>
              </a:defRPr>
            </a:pPr>
            <a:r>
              <a:t>Theme ID 1: Agentic Code Intelligence</a:t>
            </a:r>
          </a:p>
          <a:p>
            <a:pPr>
              <a:spcAft>
                <a:spcPts val="100"/>
              </a:spcAft>
              <a:defRPr sz="1100">
                <a:solidFill>
                  <a:srgbClr val="646582"/>
                </a:solidFill>
                <a:latin typeface="Arial"/>
              </a:defRPr>
            </a:pPr>
            <a:r>
              <a:t>Team Name: Romantic Shers</a:t>
            </a:r>
          </a:p>
          <a:p>
            <a:pPr>
              <a:spcAft>
                <a:spcPts val="100"/>
              </a:spcAft>
              <a:defRPr sz="1100">
                <a:solidFill>
                  <a:srgbClr val="646582"/>
                </a:solidFill>
                <a:latin typeface="Arial"/>
              </a:defRPr>
            </a:pPr>
            <a:r>
              <a:t>College: Thapar Institute of Engineering and Technology</a:t>
            </a:r>
          </a:p>
          <a:p>
            <a:pPr>
              <a:spcAft>
                <a:spcPts val="100"/>
              </a:spcAft>
              <a:defRPr sz="1100">
                <a:solidFill>
                  <a:srgbClr val="646582"/>
                </a:solidFill>
                <a:latin typeface="Arial"/>
              </a:defRPr>
            </a:pPr>
            <a:r>
              <a:t>Gurman Singh: gsingh16_be24@thapar.edu</a:t>
            </a:r>
          </a:p>
          <a:p>
            <a:pPr>
              <a:spcAft>
                <a:spcPts val="100"/>
              </a:spcAft>
              <a:defRPr sz="1100">
                <a:solidFill>
                  <a:srgbClr val="646582"/>
                </a:solidFill>
                <a:latin typeface="Arial"/>
              </a:defRPr>
            </a:pPr>
            <a:r>
              <a:t>Harkamal Singh: hlubana_be24@thapar.edu</a:t>
            </a:r>
          </a:p>
          <a:p>
            <a:pPr>
              <a:spcAft>
                <a:spcPts val="100"/>
              </a:spcAft>
              <a:defRPr sz="1100">
                <a:solidFill>
                  <a:srgbClr val="646582"/>
                </a:solidFill>
                <a:latin typeface="Arial"/>
              </a:defRPr>
            </a:pPr>
            <a:r>
              <a:t>Manraj Singh: msingh17_be24@thapar.edu</a:t>
            </a:r>
          </a:p>
          <a:p>
            <a:pPr>
              <a:spcAft>
                <a:spcPts val="100"/>
              </a:spcAft>
              <a:defRPr sz="1100">
                <a:solidFill>
                  <a:srgbClr val="646582"/>
                </a:solidFill>
                <a:latin typeface="Arial"/>
              </a:defRPr>
            </a:pPr>
            <a:r>
              <a:t>Dhruv Srivastava: dhruvsri54@gmail.com</a:t>
            </a:r>
          </a:p>
          <a:p>
            <a:pPr>
              <a:spcAft>
                <a:spcPts val="100"/>
              </a:spcAft>
              <a:defRPr sz="1100">
                <a:solidFill>
                  <a:srgbClr val="646582"/>
                </a:solidFill>
                <a:latin typeface="Arial"/>
              </a:defRPr>
            </a:pPr>
            <a:r>
              <a:t>github.com/lagmator22/OvaSearch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TextBox 96"/>
          <p:cNvSpPr txBox="1"/>
          <p:nvPr/>
        </p:nvSpPr>
        <p:spPr>
          <a:xfrm>
            <a:off x="777240" y="3090672"/>
            <a:ext cx="4343400" cy="32918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1">
                <a:solidFill>
                  <a:srgbClr val="6D28D9"/>
                </a:solidFill>
                <a:latin typeface="Arial"/>
              </a:defRPr>
            </a:pPr>
            <a:r>
              <a:t>Native C++ • OpenVINO • Local-first retrieval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>
              <a:defRPr sz="3000" b="1">
                <a:solidFill>
                  <a:srgbClr val="774CB2"/>
                </a:solidFill>
                <a:latin typeface="Arial"/>
              </a:defRPr>
            </a:pPr>
            <a:r>
              <a:t>Theme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0352" y="1207008"/>
            <a:ext cx="2148840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THEME 1 | AGENTIC CODE INTELLIGENCE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1627632"/>
            <a:ext cx="530352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600" b="1">
                <a:solidFill>
                  <a:srgbClr val="0F0F2A"/>
                </a:solidFill>
                <a:latin typeface="Arial"/>
              </a:defRPr>
            </a:pPr>
            <a:r>
              <a:t>Find the right code before an agent tries to reason about it.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2359152"/>
            <a:ext cx="5257800" cy="56692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Challenge goal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2679192"/>
            <a:ext cx="5230368" cy="2148840"/>
          </a:xfrm>
          <a:prstGeom prst="rect">
            <a:avLst/>
          </a:prstGeom>
          <a:noFill/>
        </p:spPr>
        <p:txBody>
          <a:bodyPr wrap="square" lIns="73152" rIns="45720" bIns="27432">
            <a:spAutoFit/>
          </a:bodyPr>
          <a:lstStyle/>
          <a:p>
            <a:pPr>
              <a:spcAft>
                <a:spcPts val="500"/>
              </a:spcAft>
              <a:defRPr sz="16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Rank relevant snippets</a:t>
            </a:r>
            <a:r>
              <a:rPr>
                <a:solidFill>
                  <a:srgbClr val="363752"/>
                </a:solidFill>
              </a:rPr>
              <a:t> for a natural-language query.</a:t>
            </a:r>
          </a:p>
          <a:p>
            <a:pPr>
              <a:spcAft>
                <a:spcPts val="500"/>
              </a:spcAft>
              <a:defRPr sz="16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Optimize retrieval</a:t>
            </a:r>
            <a:r>
              <a:rPr>
                <a:solidFill>
                  <a:srgbClr val="363752"/>
                </a:solidFill>
              </a:rPr>
              <a:t>, generation is outside benchmark scope.</a:t>
            </a:r>
          </a:p>
          <a:p>
            <a:pPr>
              <a:spcAft>
                <a:spcPts val="500"/>
              </a:spcAft>
              <a:defRPr sz="16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Run efficiently</a:t>
            </a:r>
            <a:r>
              <a:rPr>
                <a:solidFill>
                  <a:srgbClr val="363752"/>
                </a:solidFill>
              </a:rPr>
              <a:t> on CPU and rebuild indexes across versions.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44768" y="1481328"/>
            <a:ext cx="5349240" cy="4297680"/>
          </a:xfrm>
          <a:prstGeom prst="round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46520" y="1773936"/>
            <a:ext cx="4709160" cy="38404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Arial"/>
              </a:defRPr>
            </a:pPr>
            <a:r>
              <a:t>How OvaSearch fits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2267712"/>
            <a:ext cx="4681728" cy="2514600"/>
          </a:xfrm>
          <a:prstGeom prst="rect">
            <a:avLst/>
          </a:prstGeom>
          <a:noFill/>
        </p:spPr>
        <p:txBody>
          <a:bodyPr wrap="square" lIns="73152" rIns="45720" bIns="27432">
            <a:spAutoFit/>
          </a:bodyPr>
          <a:lstStyle/>
          <a:p>
            <a:pPr>
              <a:spcAft>
                <a:spcPts val="500"/>
              </a:spcAft>
              <a:defRPr sz="15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Dense retrieval core</a:t>
            </a:r>
            <a:r>
              <a:rPr>
                <a:solidFill>
                  <a:srgbClr val="363752"/>
                </a:solidFill>
              </a:rPr>
              <a:t>: bge embeddings + HNSW vector search.</a:t>
            </a:r>
          </a:p>
          <a:p>
            <a:pPr>
              <a:spcAft>
                <a:spcPts val="500"/>
              </a:spcAft>
              <a:defRPr sz="15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Native runtime</a:t>
            </a:r>
            <a:r>
              <a:rPr>
                <a:solidFill>
                  <a:srgbClr val="363752"/>
                </a:solidFill>
              </a:rPr>
              <a:t>: C++ inference through Intel OpenVINO.</a:t>
            </a:r>
          </a:p>
          <a:p>
            <a:pPr>
              <a:spcAft>
                <a:spcPts val="500"/>
              </a:spcAft>
              <a:defRPr sz="15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Persistent cache</a:t>
            </a:r>
            <a:r>
              <a:rPr>
                <a:solidFill>
                  <a:srgbClr val="363752"/>
                </a:solidFill>
              </a:rPr>
              <a:t>: fast startup and incremental refresh.</a:t>
            </a:r>
          </a:p>
          <a:p>
            <a:pPr>
              <a:spcAft>
                <a:spcPts val="500"/>
              </a:spcAft>
              <a:defRPr sz="15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Multimodal path</a:t>
            </a:r>
            <a:r>
              <a:rPr>
                <a:solidFill>
                  <a:srgbClr val="363752"/>
                </a:solidFill>
              </a:rPr>
              <a:t>: text, documents and images in one index.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46520" y="5074920"/>
            <a:ext cx="4590288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1">
                <a:solidFill>
                  <a:srgbClr val="DA8137"/>
                </a:solidFill>
                <a:latin typeface="Arial"/>
              </a:defRPr>
            </a:pPr>
            <a:r>
              <a:t>NOTE  Code-aware chunking (tree-sitter) and the MTEB AppsRetrieval adapter are now built in prism/.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02920" y="6510528"/>
            <a:ext cx="11173968" cy="7315"/>
          </a:xfrm>
          <a:prstGeom prst="rect">
            <a:avLst/>
          </a:prstGeom>
          <a:solidFill>
            <a:srgbClr val="DC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6547104"/>
            <a:ext cx="89611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800" b="0">
                <a:solidFill>
                  <a:srgbClr val="646582"/>
                </a:solidFill>
                <a:latin typeface="Arial"/>
              </a:defRPr>
            </a:pPr>
            <a:r>
              <a:t>Challenge framing from provided Theme 1 guidelines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109960" y="6519672"/>
            <a:ext cx="457200" cy="182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Arial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>
              <a:defRPr sz="3000" b="1">
                <a:solidFill>
                  <a:srgbClr val="774CB2"/>
                </a:solidFill>
                <a:latin typeface="Arial"/>
              </a:defRPr>
            </a:pPr>
            <a:r>
              <a:t>Existing Solutions &amp; Gaps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6928" y="1572768"/>
            <a:ext cx="3182112" cy="4041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8096" y="1783080"/>
            <a:ext cx="1417320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BASELINE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68096" y="2176272"/>
            <a:ext cx="2724912" cy="4754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000" b="1">
                <a:solidFill>
                  <a:srgbClr val="0F0F2A"/>
                </a:solidFill>
                <a:latin typeface="Arial"/>
              </a:defRPr>
            </a:pPr>
            <a:r>
              <a:t>Keyword / regex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8096" y="2788920"/>
            <a:ext cx="91440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000" b="1">
                <a:solidFill>
                  <a:srgbClr val="26915F"/>
                </a:solidFill>
                <a:latin typeface="Arial"/>
              </a:defRPr>
            </a:pPr>
            <a:r>
              <a:t>GOOD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8096" y="3063240"/>
            <a:ext cx="2724912" cy="6583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0">
                <a:solidFill>
                  <a:srgbClr val="363752"/>
                </a:solidFill>
                <a:latin typeface="Arial"/>
              </a:defRPr>
            </a:pPr>
            <a:r>
              <a:t>Fast and explainable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68096" y="3968496"/>
            <a:ext cx="91440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000" b="1">
                <a:solidFill>
                  <a:srgbClr val="C94646"/>
                </a:solidFill>
                <a:latin typeface="Arial"/>
              </a:defRPr>
            </a:pPr>
            <a:r>
              <a:t>GAP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8096" y="4251960"/>
            <a:ext cx="2724912" cy="87782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0">
                <a:solidFill>
                  <a:srgbClr val="363752"/>
                </a:solidFill>
                <a:latin typeface="Arial"/>
              </a:defRPr>
            </a:pPr>
            <a:r>
              <a:t>Misses semantic intent; brittle naming mismatch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069080" y="1572768"/>
            <a:ext cx="3182112" cy="4041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270248" y="1783080"/>
            <a:ext cx="1417320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BASELINE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70248" y="2176272"/>
            <a:ext cx="2724912" cy="4754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000" b="1">
                <a:solidFill>
                  <a:srgbClr val="0F0F2A"/>
                </a:solidFill>
                <a:latin typeface="Arial"/>
              </a:defRPr>
            </a:pPr>
            <a:r>
              <a:t>Dense retrievers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70248" y="2788920"/>
            <a:ext cx="91440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000" b="1">
                <a:solidFill>
                  <a:srgbClr val="26915F"/>
                </a:solidFill>
                <a:latin typeface="Arial"/>
              </a:defRPr>
            </a:pPr>
            <a:r>
              <a:t>GOOD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70248" y="3063240"/>
            <a:ext cx="2724912" cy="6583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0">
                <a:solidFill>
                  <a:srgbClr val="363752"/>
                </a:solidFill>
                <a:latin typeface="Arial"/>
              </a:defRPr>
            </a:pPr>
            <a:r>
              <a:t>Semantic matching at scale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70248" y="3968496"/>
            <a:ext cx="91440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000" b="1">
                <a:solidFill>
                  <a:srgbClr val="C94646"/>
                </a:solidFill>
                <a:latin typeface="Arial"/>
              </a:defRPr>
            </a:pPr>
            <a:r>
              <a:t>GAP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270248" y="4251960"/>
            <a:ext cx="2724912" cy="87782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0">
                <a:solidFill>
                  <a:srgbClr val="363752"/>
                </a:solidFill>
                <a:latin typeface="Arial"/>
              </a:defRPr>
            </a:pPr>
            <a:r>
              <a:t>Generic embeddings can blur code structure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571231" y="1572768"/>
            <a:ext cx="3182112" cy="4041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7772400" y="1783080"/>
            <a:ext cx="1417320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BASELINE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772400" y="2176272"/>
            <a:ext cx="2724912" cy="4754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000" b="1">
                <a:solidFill>
                  <a:srgbClr val="0F0F2A"/>
                </a:solidFill>
                <a:latin typeface="Arial"/>
              </a:defRPr>
            </a:pPr>
            <a:r>
              <a:t>LLM reranking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772400" y="2788920"/>
            <a:ext cx="91440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000" b="1">
                <a:solidFill>
                  <a:srgbClr val="26915F"/>
                </a:solidFill>
                <a:latin typeface="Arial"/>
              </a:defRPr>
            </a:pPr>
            <a:r>
              <a:t>GOOD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772400" y="3063240"/>
            <a:ext cx="2724912" cy="6583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0">
                <a:solidFill>
                  <a:srgbClr val="363752"/>
                </a:solidFill>
                <a:latin typeface="Arial"/>
              </a:defRPr>
            </a:pPr>
            <a:r>
              <a:t>Strong reasoning over a shortlist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72400" y="3968496"/>
            <a:ext cx="91440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000" b="1">
                <a:solidFill>
                  <a:srgbClr val="C94646"/>
                </a:solidFill>
                <a:latin typeface="Arial"/>
              </a:defRPr>
            </a:pPr>
            <a:r>
              <a:t>GAP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772400" y="4251960"/>
            <a:ext cx="2724912" cy="87782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0">
                <a:solidFill>
                  <a:srgbClr val="363752"/>
                </a:solidFill>
                <a:latin typeface="Arial"/>
              </a:defRPr>
            </a:pPr>
            <a:r>
              <a:t>Slow, costly, and context-limited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21792" y="5833872"/>
            <a:ext cx="10607040" cy="34747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700" b="1">
                <a:solidFill>
                  <a:srgbClr val="6D28D9"/>
                </a:solidFill>
                <a:latin typeface="Arial"/>
              </a:defRPr>
            </a:pPr>
            <a:r>
              <a:t>Measured on AppsRetrieval (CPU): SFR-Code-400M NDCG@10 0.514, MRR@10 0.470 vs bge-small baseline 0.056 / 0.048.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2920" y="6510528"/>
            <a:ext cx="11173968" cy="7315"/>
          </a:xfrm>
          <a:prstGeom prst="rect">
            <a:avLst/>
          </a:prstGeom>
          <a:solidFill>
            <a:srgbClr val="DC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66928" y="6547104"/>
            <a:ext cx="89611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800" b="0">
                <a:solidFill>
                  <a:srgbClr val="646582"/>
                </a:solidFill>
                <a:latin typeface="Arial"/>
              </a:defRPr>
            </a:pPr>
            <a:r>
              <a:t>Based on provided project information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109960" y="6519672"/>
            <a:ext cx="457200" cy="182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Arial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>
              <a:defRPr sz="3000" b="1">
                <a:solidFill>
                  <a:srgbClr val="774CB2"/>
                </a:solidFill>
                <a:latin typeface="Arial"/>
              </a:defRPr>
            </a:pPr>
            <a:r>
              <a:t>Our Solution &amp; Architecture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1115568"/>
            <a:ext cx="9875520" cy="3200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600" b="0">
                <a:solidFill>
                  <a:srgbClr val="646582"/>
                </a:solidFill>
                <a:latin typeface="Arial"/>
              </a:defRPr>
            </a:pPr>
            <a:r>
              <a:t>One native pipeline from heterogeneous files to ranked evidence.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66928" y="1719072"/>
            <a:ext cx="199339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94944" y="1874519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17" name="Oval 116"/>
          <p:cNvSpPr/>
          <p:nvPr/>
        </p:nvSpPr>
        <p:spPr>
          <a:xfrm>
            <a:off x="676656" y="1847088"/>
            <a:ext cx="329184" cy="32918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78992" y="1847088"/>
            <a:ext cx="12801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Arial"/>
              </a:defRPr>
            </a:pPr>
            <a:r>
              <a:t>INGEST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13232" y="2286000"/>
            <a:ext cx="1691640" cy="6583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200" b="0">
                <a:solidFill>
                  <a:srgbClr val="363752"/>
                </a:solidFill>
                <a:latin typeface="Arial"/>
              </a:defRPr>
            </a:pPr>
            <a:r>
              <a:t>TXT | MD | PDF</a:t>
            </a:r>
            <a:br/>
            <a:r>
              <a:t>DOCX | PPTX | images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2560320" y="2496312"/>
            <a:ext cx="256032" cy="0"/>
          </a:xfrm>
          <a:prstGeom prst="line">
            <a:avLst/>
          </a:prstGeom>
          <a:ln w="254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2816352" y="1719072"/>
            <a:ext cx="199339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944368" y="1874519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23" name="Oval 122"/>
          <p:cNvSpPr/>
          <p:nvPr/>
        </p:nvSpPr>
        <p:spPr>
          <a:xfrm>
            <a:off x="2926080" y="1847088"/>
            <a:ext cx="329184" cy="32918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328416" y="1847088"/>
            <a:ext cx="12801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Arial"/>
              </a:defRPr>
            </a:pPr>
            <a:r>
              <a:t>UNDERSTAND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962656" y="2286000"/>
            <a:ext cx="1691640" cy="6583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200" b="0">
                <a:solidFill>
                  <a:srgbClr val="363752"/>
                </a:solidFill>
                <a:latin typeface="Arial"/>
              </a:defRPr>
            </a:pPr>
            <a:r>
              <a:t>extract text | chunk</a:t>
            </a:r>
            <a:br/>
            <a:r>
              <a:t>Qwen2-VL captions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809744" y="2496312"/>
            <a:ext cx="256032" cy="0"/>
          </a:xfrm>
          <a:prstGeom prst="line">
            <a:avLst/>
          </a:prstGeom>
          <a:ln w="254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5065776" y="1719072"/>
            <a:ext cx="1993392" cy="1572768"/>
          </a:xfrm>
          <a:prstGeom prst="roundRect">
            <a:avLst/>
          </a:prstGeom>
          <a:solidFill>
            <a:srgbClr val="F4E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93792" y="1874519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29" name="Oval 128"/>
          <p:cNvSpPr/>
          <p:nvPr/>
        </p:nvSpPr>
        <p:spPr>
          <a:xfrm>
            <a:off x="5175504" y="1847088"/>
            <a:ext cx="329184" cy="32918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577840" y="1847088"/>
            <a:ext cx="12801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Arial"/>
              </a:defRPr>
            </a:pPr>
            <a:r>
              <a:t>EMBED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212080" y="2286000"/>
            <a:ext cx="1691640" cy="6583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200" b="0">
                <a:solidFill>
                  <a:srgbClr val="363752"/>
                </a:solidFill>
                <a:latin typeface="Arial"/>
              </a:defRPr>
            </a:pPr>
            <a:r>
              <a:t>bge-small-en-v1.5</a:t>
            </a:r>
            <a:br/>
            <a:r>
              <a:t>384 dimensions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7059168" y="2496312"/>
            <a:ext cx="256032" cy="0"/>
          </a:xfrm>
          <a:prstGeom prst="line">
            <a:avLst/>
          </a:prstGeom>
          <a:ln w="254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7315200" y="1719072"/>
            <a:ext cx="1993392" cy="1572768"/>
          </a:xfrm>
          <a:prstGeom prst="roundRect">
            <a:avLst/>
          </a:prstGeom>
          <a:solidFill>
            <a:srgbClr val="F4E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443216" y="1874519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35" name="Oval 134"/>
          <p:cNvSpPr/>
          <p:nvPr/>
        </p:nvSpPr>
        <p:spPr>
          <a:xfrm>
            <a:off x="7424927" y="1847088"/>
            <a:ext cx="329184" cy="32918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827264" y="1847088"/>
            <a:ext cx="12801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Arial"/>
              </a:defRPr>
            </a:pPr>
            <a:r>
              <a:t>INDEX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61504" y="2286000"/>
            <a:ext cx="1691640" cy="6583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200" b="0">
                <a:solidFill>
                  <a:srgbClr val="363752"/>
                </a:solidFill>
                <a:latin typeface="Arial"/>
              </a:defRPr>
            </a:pPr>
            <a:r>
              <a:t>USearch HNSW</a:t>
            </a:r>
            <a:br/>
            <a:r>
              <a:t>cosine similarity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9308592" y="2496312"/>
            <a:ext cx="256032" cy="0"/>
          </a:xfrm>
          <a:prstGeom prst="line">
            <a:avLst/>
          </a:prstGeom>
          <a:ln w="254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9564624" y="1719072"/>
            <a:ext cx="1993392" cy="1572768"/>
          </a:xfrm>
          <a:prstGeom prst="roundRect">
            <a:avLst/>
          </a:prstGeom>
          <a:solidFill>
            <a:srgbClr val="F4E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692640" y="1874519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41" name="Oval 140"/>
          <p:cNvSpPr/>
          <p:nvPr/>
        </p:nvSpPr>
        <p:spPr>
          <a:xfrm>
            <a:off x="9674352" y="1847088"/>
            <a:ext cx="329184" cy="32918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076688" y="1847088"/>
            <a:ext cx="12801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Arial"/>
              </a:defRPr>
            </a:pPr>
            <a:r>
              <a:t>RETRIEVE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710928" y="2286000"/>
            <a:ext cx="1691640" cy="6583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200" b="0">
                <a:solidFill>
                  <a:srgbClr val="363752"/>
                </a:solidFill>
                <a:latin typeface="Arial"/>
              </a:defRPr>
            </a:pPr>
            <a:r>
              <a:t>top-k ranked chunks</a:t>
            </a:r>
            <a:br/>
            <a:r>
              <a:t>metadata + source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3657600"/>
            <a:ext cx="3712463" cy="1783080"/>
          </a:xfrm>
          <a:prstGeom prst="round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04672" y="3877056"/>
            <a:ext cx="3200400" cy="2926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QUERY PATH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04672" y="4297680"/>
            <a:ext cx="3163824" cy="67665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700" b="1">
                <a:solidFill>
                  <a:srgbClr val="0F0F2A"/>
                </a:solidFill>
                <a:latin typeface="Arial"/>
              </a:defRPr>
            </a:pPr>
            <a:r>
              <a:t>Natural-language query → embedding → HNSW search → relevance-ranked snippets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526280" y="3657600"/>
            <a:ext cx="3127248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754880" y="3877056"/>
            <a:ext cx="2651760" cy="2926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PERSISTENT CACHE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727448" y="4233672"/>
            <a:ext cx="2633472" cy="914400"/>
          </a:xfrm>
          <a:prstGeom prst="rect">
            <a:avLst/>
          </a:prstGeom>
          <a:noFill/>
        </p:spPr>
        <p:txBody>
          <a:bodyPr wrap="square" lIns="73152" rIns="45720" bIns="27432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63752"/>
                </a:solidFill>
                <a:latin typeface="Arial"/>
              </a:defRPr>
            </a:pPr>
            <a:r>
              <a:t>•  chunks + metadata</a:t>
            </a:r>
          </a:p>
          <a:p>
            <a:pPr>
              <a:spcAft>
                <a:spcPts val="500"/>
              </a:spcAft>
              <a:defRPr sz="1300">
                <a:solidFill>
                  <a:srgbClr val="363752"/>
                </a:solidFill>
                <a:latin typeface="Arial"/>
              </a:defRPr>
            </a:pPr>
            <a:r>
              <a:t>•  vectors + modification time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909560" y="3657600"/>
            <a:ext cx="36118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138160" y="3877056"/>
            <a:ext cx="3108960" cy="2926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OPTIONAL RAG RESPONSE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138160" y="4270248"/>
            <a:ext cx="3063240" cy="6583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500" b="0">
                <a:solidFill>
                  <a:srgbClr val="363752"/>
                </a:solidFill>
                <a:latin typeface="Arial"/>
              </a:defRPr>
            </a:pPr>
            <a:r>
              <a:t>Llama-3.2-3B-Instruct (INT4) summarizes retrieved evidence.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12648" y="5742432"/>
            <a:ext cx="10698480" cy="38404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400" b="1">
                <a:solidFill>
                  <a:srgbClr val="DA8137"/>
                </a:solidFill>
                <a:latin typeface="Arial"/>
              </a:defRPr>
            </a:pPr>
            <a:r>
              <a:t>Benchmark mode stops after RETRIEVE and exports ranked results, no answer generation.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02920" y="6510528"/>
            <a:ext cx="11173968" cy="7315"/>
          </a:xfrm>
          <a:prstGeom prst="rect">
            <a:avLst/>
          </a:prstGeom>
          <a:solidFill>
            <a:srgbClr val="DC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66928" y="6547104"/>
            <a:ext cx="89611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800" b="0">
                <a:solidFill>
                  <a:srgbClr val="646582"/>
                </a:solidFill>
                <a:latin typeface="Arial"/>
              </a:defRPr>
            </a:pPr>
            <a:r>
              <a:t>Based on provided project information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1109960" y="6519672"/>
            <a:ext cx="457200" cy="182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>
              <a:defRPr sz="3000" b="1">
                <a:solidFill>
                  <a:srgbClr val="774CB2"/>
                </a:solidFill>
                <a:latin typeface="Arial"/>
              </a:defRPr>
            </a:pPr>
            <a:r>
              <a:t>Demo &amp; Product Walkthrough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1417320"/>
            <a:ext cx="6537960" cy="4526280"/>
          </a:xfrm>
          <a:prstGeom prst="roundRect">
            <a:avLst/>
          </a:prstGeom>
          <a:solidFill>
            <a:srgbClr val="0F0F2A"/>
          </a:solidFill>
          <a:ln w="12700">
            <a:solidFill>
              <a:srgbClr val="0F0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41248" y="1673352"/>
            <a:ext cx="5943600" cy="2926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1">
                <a:solidFill>
                  <a:srgbClr val="AF9FE8"/>
                </a:solidFill>
                <a:latin typeface="Consolas"/>
              </a:defRPr>
            </a:pPr>
            <a:r>
              <a:t>TERMINAL | LOCAL EXECUTION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1248" y="2121408"/>
            <a:ext cx="5897880" cy="32461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onsolas"/>
              </a:defRPr>
            </a:pPr>
            <a:r>
              <a:t>$ python -m prism index express --rev 4.21.2</a:t>
            </a:r>
            <a:br/>
            <a:r>
              <a:t>reused 668 cached vectors, embedded 242</a:t>
            </a:r>
            <a:br/>
            <a:br/>
            <a:r>
              <a:t>$ python -m prism search "redirect"</a:t>
            </a:r>
            <a:br/>
            <a:r>
              <a:t>1. lib/response.js:928-990  res.redirect</a:t>
            </a:r>
            <a:br/>
            <a:r>
              <a:t>latency: 369 ms on CPU</a:t>
            </a:r>
            <a:br/>
            <a:br/>
            <a:r>
              <a:t>$ ./ovasearch</a:t>
            </a:r>
            <a:br/>
            <a:r>
              <a:t>&gt; What images contain animals?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34072" y="1463040"/>
            <a:ext cx="3977639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Arial"/>
              </a:defRPr>
            </a:pPr>
            <a:r>
              <a:t>Five-step walkthrough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52360" y="2039112"/>
            <a:ext cx="384048" cy="329184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100" b="1">
                <a:solidFill>
                  <a:srgbClr val="6D28D9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973568" y="2020824"/>
            <a:ext cx="1078992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1">
                <a:solidFill>
                  <a:srgbClr val="0F0F2A"/>
                </a:solidFill>
                <a:latin typeface="Arial"/>
              </a:defRPr>
            </a:pPr>
            <a:r>
              <a:t>Index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52560" y="2020824"/>
            <a:ext cx="2331720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200" b="0">
                <a:solidFill>
                  <a:srgbClr val="646582"/>
                </a:solidFill>
                <a:latin typeface="Arial"/>
              </a:defRPr>
            </a:pPr>
            <a:r>
              <a:t>prism index: a repo at any git tag or commit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452360" y="2752344"/>
            <a:ext cx="384048" cy="329184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100" b="1">
                <a:solidFill>
                  <a:srgbClr val="6D28D9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973568" y="2734056"/>
            <a:ext cx="1078992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1">
                <a:solidFill>
                  <a:srgbClr val="0F0F2A"/>
                </a:solidFill>
                <a:latin typeface="Arial"/>
              </a:defRPr>
            </a:pPr>
            <a:r>
              <a:t>Search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52560" y="2734056"/>
            <a:ext cx="2331720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200" b="0">
                <a:solidFill>
                  <a:srgbClr val="646582"/>
                </a:solidFill>
                <a:latin typeface="Arial"/>
              </a:defRPr>
            </a:pPr>
            <a:r>
              <a:t>prism search: ranked file:lines + preview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452360" y="3465576"/>
            <a:ext cx="384048" cy="329184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100" b="1">
                <a:solidFill>
                  <a:srgbClr val="6D28D9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973568" y="3447288"/>
            <a:ext cx="1078992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1">
                <a:solidFill>
                  <a:srgbClr val="0F0F2A"/>
                </a:solidFill>
                <a:latin typeface="Arial"/>
              </a:defRPr>
            </a:pPr>
            <a:r>
              <a:t>Versions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052560" y="3447288"/>
            <a:ext cx="2331720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200" b="0">
                <a:solidFill>
                  <a:srgbClr val="646582"/>
                </a:solidFill>
                <a:latin typeface="Arial"/>
              </a:defRPr>
            </a:pPr>
            <a:r>
              <a:t>--all-versions: near-duplicates grouped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452360" y="4178808"/>
            <a:ext cx="384048" cy="329184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100" b="1">
                <a:solidFill>
                  <a:srgbClr val="6D28D9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973568" y="4160520"/>
            <a:ext cx="1078992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1">
                <a:solidFill>
                  <a:srgbClr val="0F0F2A"/>
                </a:solidFill>
                <a:latin typeface="Arial"/>
              </a:defRPr>
            </a:pPr>
            <a:r>
              <a:t>Rebuild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052560" y="4160520"/>
            <a:ext cx="2331720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200" b="0">
                <a:solidFill>
                  <a:srgbClr val="646582"/>
                </a:solidFill>
                <a:latin typeface="Arial"/>
              </a:defRPr>
            </a:pPr>
            <a:r>
              <a:t>New commit: only changed chunks re-embed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52360" y="4892040"/>
            <a:ext cx="384048" cy="329184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100" b="1">
                <a:solidFill>
                  <a:srgbClr val="6D28D9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73568" y="4873752"/>
            <a:ext cx="1078992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400" b="1">
                <a:solidFill>
                  <a:srgbClr val="0F0F2A"/>
                </a:solidFill>
                <a:latin typeface="Arial"/>
              </a:defRPr>
            </a:pPr>
            <a:r>
              <a:t>C++ app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52560" y="4873752"/>
            <a:ext cx="2331720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200" b="0">
                <a:solidFill>
                  <a:srgbClr val="646582"/>
                </a:solidFill>
                <a:latin typeface="Arial"/>
              </a:defRPr>
            </a:pPr>
            <a:r>
              <a:t>./ovasearch for docs and images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79792" y="5687568"/>
            <a:ext cx="3794760" cy="31089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1">
                <a:solidFill>
                  <a:srgbClr val="DA8137"/>
                </a:solidFill>
                <a:latin typeface="Arial"/>
              </a:defRPr>
            </a:pPr>
            <a:r>
              <a:rPr>
                <a:hlinkClick r:id="rId3"/>
              </a:rPr>
              <a:t>Demo video: drive.google.com/file/d/1lrPoPA8nCbHOSsjEkVldNYA3m0ZxI8St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02920" y="6510528"/>
            <a:ext cx="11173968" cy="7315"/>
          </a:xfrm>
          <a:prstGeom prst="rect">
            <a:avLst/>
          </a:prstGeom>
          <a:solidFill>
            <a:srgbClr val="DC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66928" y="6547104"/>
            <a:ext cx="89611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800" b="0">
                <a:solidFill>
                  <a:srgbClr val="646582"/>
                </a:solidFill>
                <a:latin typeface="Arial"/>
              </a:defRPr>
            </a:pPr>
            <a:r>
              <a:t>Based on provided project information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109960" y="6519672"/>
            <a:ext cx="457200" cy="182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>
              <a:defRPr sz="3000" b="1">
                <a:solidFill>
                  <a:srgbClr val="774CB2"/>
                </a:solidFill>
                <a:latin typeface="Arial"/>
              </a:defRPr>
            </a:pPr>
            <a:r>
              <a:t>Tools and Tech Stack Used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1399032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731520" y="1545336"/>
            <a:ext cx="1115568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NATIVE CORE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011680" y="1508760"/>
            <a:ext cx="2066543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500" b="1">
                <a:solidFill>
                  <a:srgbClr val="0F0F2A"/>
                </a:solidFill>
                <a:latin typeface="Arial"/>
              </a:defRPr>
            </a:pPr>
            <a:r>
              <a:t>C++17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11680" y="1819656"/>
            <a:ext cx="3456432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Zero Python runtime overhead during inference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080760" y="1399032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6245352" y="1545336"/>
            <a:ext cx="1115568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INFERENCE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525512" y="1508760"/>
            <a:ext cx="2066543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500" b="1">
                <a:solidFill>
                  <a:srgbClr val="0F0F2A"/>
                </a:solidFill>
                <a:latin typeface="Arial"/>
              </a:defRPr>
            </a:pPr>
            <a:r>
              <a:t>Intel OpenVINO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525512" y="1819656"/>
            <a:ext cx="3456432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CPU/GPU-optimized model execution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2569464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731520" y="2715768"/>
            <a:ext cx="1115568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VECTOR SEARCH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11680" y="2679192"/>
            <a:ext cx="2066543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500" b="1">
                <a:solidFill>
                  <a:srgbClr val="0F0F2A"/>
                </a:solidFill>
                <a:latin typeface="Arial"/>
              </a:defRPr>
            </a:pPr>
            <a:r>
              <a:t>USearch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011680" y="2990088"/>
            <a:ext cx="3456432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Dense HNSW index with cosine distance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080760" y="2569464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6245352" y="2715768"/>
            <a:ext cx="1115568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TEXT MODEL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525512" y="2679192"/>
            <a:ext cx="2066543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500" b="1">
                <a:solidFill>
                  <a:srgbClr val="0F0F2A"/>
                </a:solidFill>
                <a:latin typeface="Arial"/>
              </a:defRPr>
            </a:pPr>
            <a:r>
              <a:t>bge-small-en-v1.5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525512" y="2990088"/>
            <a:ext cx="3456432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384-dimensional semantic embeddings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66928" y="3739896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731520" y="3886200"/>
            <a:ext cx="1115568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VISION MODEL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11680" y="3849624"/>
            <a:ext cx="2066543" cy="4754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500" b="1">
                <a:solidFill>
                  <a:srgbClr val="0F0F2A"/>
                </a:solidFill>
                <a:latin typeface="Arial"/>
              </a:defRPr>
            </a:pPr>
            <a:r>
              <a:t>Qwen2-VL-2B-Instruct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011680" y="4361688"/>
            <a:ext cx="3456432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000" b="0">
                <a:solidFill>
                  <a:srgbClr val="646582"/>
                </a:solidFill>
                <a:latin typeface="Arial"/>
              </a:defRPr>
            </a:pPr>
            <a:r>
              <a:t>Image understanding and automatic captions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080760" y="3739896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6245352" y="3886200"/>
            <a:ext cx="1115568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GENERATION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525512" y="3849624"/>
            <a:ext cx="2066543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500" b="1">
                <a:solidFill>
                  <a:srgbClr val="0F0F2A"/>
                </a:solidFill>
                <a:latin typeface="Arial"/>
              </a:defRPr>
            </a:pPr>
            <a:r>
              <a:t>Llama-3.2-3B INT4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525512" y="4160520"/>
            <a:ext cx="3456432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Compact local response generation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66928" y="4910328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731520" y="5056632"/>
            <a:ext cx="1115568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DOCUMENTS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11680" y="5020056"/>
            <a:ext cx="2066543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500" b="1">
                <a:solidFill>
                  <a:srgbClr val="0F0F2A"/>
                </a:solidFill>
                <a:latin typeface="Arial"/>
              </a:defRPr>
            </a:pPr>
            <a:r>
              <a:t>PDF | DOCX | PPTX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011680" y="5330952"/>
            <a:ext cx="3456432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Automatic extraction via utility pipeline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080760" y="4910328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6245352" y="5056632"/>
            <a:ext cx="1115568" cy="292608"/>
          </a:xfrm>
          <a:prstGeom prst="roundRect">
            <a:avLst/>
          </a:prstGeom>
          <a:solidFill>
            <a:srgbClr val="F4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900" b="1">
                <a:solidFill>
                  <a:srgbClr val="6D28D9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525512" y="5020056"/>
            <a:ext cx="2066543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500" b="1">
                <a:solidFill>
                  <a:srgbClr val="0F0F2A"/>
                </a:solidFill>
                <a:latin typeface="Arial"/>
              </a:defRPr>
            </a:pPr>
            <a:r>
              <a:t>CMake 3.18+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525512" y="5330952"/>
            <a:ext cx="3456432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Auto-detects environment and dependencies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02920" y="6510528"/>
            <a:ext cx="11173968" cy="7315"/>
          </a:xfrm>
          <a:prstGeom prst="rect">
            <a:avLst/>
          </a:prstGeom>
          <a:solidFill>
            <a:srgbClr val="DC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66928" y="6547104"/>
            <a:ext cx="89611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800" b="0">
                <a:solidFill>
                  <a:srgbClr val="646582"/>
                </a:solidFill>
                <a:latin typeface="Arial"/>
              </a:defRPr>
            </a:pPr>
            <a:r>
              <a:t>Based on provided project information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1109960" y="6519672"/>
            <a:ext cx="457200" cy="182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>
              <a:defRPr sz="3000" b="1">
                <a:solidFill>
                  <a:srgbClr val="774CB2"/>
                </a:solidFill>
                <a:latin typeface="Arial"/>
              </a:defRPr>
            </a:pPr>
            <a:r>
              <a:t>Impact &amp; Use Cases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6928" y="1225296"/>
            <a:ext cx="10424160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300" b="1">
                <a:solidFill>
                  <a:srgbClr val="0F0F2A"/>
                </a:solidFill>
                <a:latin typeface="Arial"/>
              </a:defRPr>
            </a:pPr>
            <a:r>
              <a:t>Private, hardware-accelerated search turns scattered local content into actionable evidence.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66928" y="2011680"/>
            <a:ext cx="5230368" cy="1572768"/>
          </a:xfrm>
          <a:prstGeom prst="roundRect">
            <a:avLst/>
          </a:prstGeom>
          <a:solidFill>
            <a:srgbClr val="F4E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86384" y="2203704"/>
            <a:ext cx="4572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353312" y="2194560"/>
            <a:ext cx="4160520" cy="32918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800" b="1">
                <a:solidFill>
                  <a:srgbClr val="0F0F2A"/>
                </a:solidFill>
                <a:latin typeface="Arial"/>
              </a:defRPr>
            </a:pPr>
            <a:r>
              <a:t>Developer discovery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353312" y="2642616"/>
            <a:ext cx="4041648" cy="6035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0">
                <a:solidFill>
                  <a:srgbClr val="363752"/>
                </a:solidFill>
                <a:latin typeface="Arial"/>
              </a:defRPr>
            </a:pPr>
            <a:r>
              <a:t>Find implementation details, configuration, and behavior across repositories.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089904" y="2011680"/>
            <a:ext cx="523036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309360" y="2203704"/>
            <a:ext cx="4572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876288" y="2194560"/>
            <a:ext cx="4160520" cy="32918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800" b="1">
                <a:solidFill>
                  <a:srgbClr val="0F0F2A"/>
                </a:solidFill>
                <a:latin typeface="Arial"/>
              </a:defRPr>
            </a:pPr>
            <a:r>
              <a:t>Enterprise knowledge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876288" y="2642616"/>
            <a:ext cx="4041648" cy="6035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0">
                <a:solidFill>
                  <a:srgbClr val="363752"/>
                </a:solidFill>
                <a:latin typeface="Arial"/>
              </a:defRPr>
            </a:pPr>
            <a:r>
              <a:t>Search internal PDFs, decks, docs and images without uploading data to a cloud service.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566928" y="3968496"/>
            <a:ext cx="523036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86384" y="4160520"/>
            <a:ext cx="4572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353312" y="4151376"/>
            <a:ext cx="4160520" cy="32918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800" b="1">
                <a:solidFill>
                  <a:srgbClr val="0F0F2A"/>
                </a:solidFill>
                <a:latin typeface="Arial"/>
              </a:defRPr>
            </a:pPr>
            <a:r>
              <a:t>Visual asset search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353312" y="4599431"/>
            <a:ext cx="4041648" cy="6035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0">
                <a:solidFill>
                  <a:srgbClr val="363752"/>
                </a:solidFill>
                <a:latin typeface="Arial"/>
              </a:defRPr>
            </a:pPr>
            <a:r>
              <a:t>Ask what appears in diagrams, screenshots and photos through VLM-generated captions.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089904" y="3968496"/>
            <a:ext cx="523036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09360" y="4160520"/>
            <a:ext cx="4572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876288" y="4151376"/>
            <a:ext cx="4160520" cy="32918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800" b="1">
                <a:solidFill>
                  <a:srgbClr val="0F0F2A"/>
                </a:solidFill>
                <a:latin typeface="Arial"/>
              </a:defRPr>
            </a:pPr>
            <a:r>
              <a:t>Research synthesis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876288" y="4599431"/>
            <a:ext cx="4041648" cy="6035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0">
                <a:solidFill>
                  <a:srgbClr val="363752"/>
                </a:solidFill>
                <a:latin typeface="Arial"/>
              </a:defRPr>
            </a:pPr>
            <a:r>
              <a:t>Retrieve relevant passages quickly, then use a compact local LLM for grounded summaries.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02920" y="6510528"/>
            <a:ext cx="11173968" cy="7315"/>
          </a:xfrm>
          <a:prstGeom prst="rect">
            <a:avLst/>
          </a:prstGeom>
          <a:solidFill>
            <a:srgbClr val="DC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66928" y="6547104"/>
            <a:ext cx="89611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800" b="0">
                <a:solidFill>
                  <a:srgbClr val="646582"/>
                </a:solidFill>
                <a:latin typeface="Arial"/>
              </a:defRPr>
            </a:pPr>
            <a:r>
              <a:t>Based on provided project information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109960" y="6519672"/>
            <a:ext cx="457200" cy="182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Arial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>
              <a:defRPr sz="2700" b="1">
                <a:solidFill>
                  <a:srgbClr val="774CB2"/>
                </a:solidFill>
                <a:latin typeface="Arial"/>
              </a:defRPr>
            </a:pPr>
            <a:r>
              <a:t>Innovation Highlights, Results &amp; Limitations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66928" y="1307592"/>
            <a:ext cx="3657600" cy="4553712"/>
          </a:xfrm>
          <a:prstGeom prst="roundRect">
            <a:avLst/>
          </a:prstGeom>
          <a:solidFill>
            <a:srgbClr val="F4E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22960" y="1554480"/>
            <a:ext cx="3163824" cy="34747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INNOVATION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95528" y="2011680"/>
            <a:ext cx="3182112" cy="3154680"/>
          </a:xfrm>
          <a:prstGeom prst="rect">
            <a:avLst/>
          </a:prstGeom>
          <a:noFill/>
        </p:spPr>
        <p:txBody>
          <a:bodyPr wrap="square" lIns="73152" rIns="45720" bIns="27432">
            <a:spAutoFit/>
          </a:bodyPr>
          <a:lstStyle/>
          <a:p>
            <a:pPr>
              <a:spcAft>
                <a:spcPts val="500"/>
              </a:spcAft>
              <a:defRPr sz="14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Native C++</a:t>
            </a:r>
            <a:r>
              <a:rPr>
                <a:solidFill>
                  <a:srgbClr val="363752"/>
                </a:solidFill>
              </a:rPr>
              <a:t> retrieval and generation runtime</a:t>
            </a:r>
          </a:p>
          <a:p>
            <a:pPr>
              <a:spcAft>
                <a:spcPts val="500"/>
              </a:spcAft>
              <a:defRPr sz="14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One index</a:t>
            </a:r>
            <a:r>
              <a:rPr>
                <a:solidFill>
                  <a:srgbClr val="363752"/>
                </a:solidFill>
              </a:rPr>
              <a:t> for document text and image captions</a:t>
            </a:r>
          </a:p>
          <a:p>
            <a:pPr>
              <a:spcAft>
                <a:spcPts val="500"/>
              </a:spcAft>
              <a:defRPr sz="14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Persistent cache</a:t>
            </a:r>
            <a:r>
              <a:rPr>
                <a:solidFill>
                  <a:srgbClr val="363752"/>
                </a:solidFill>
              </a:rPr>
              <a:t> with file-change invalidation</a:t>
            </a:r>
          </a:p>
          <a:p>
            <a:pPr>
              <a:spcAft>
                <a:spcPts val="500"/>
              </a:spcAft>
              <a:defRPr sz="14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Sliding windows</a:t>
            </a:r>
            <a:r>
              <a:rPr>
                <a:solidFill>
                  <a:srgbClr val="363752"/>
                </a:solidFill>
              </a:rPr>
              <a:t> with configurable overlap</a:t>
            </a:r>
          </a:p>
          <a:p>
            <a:pPr>
              <a:spcAft>
                <a:spcPts val="500"/>
              </a:spcAft>
              <a:defRPr sz="1400">
                <a:latin typeface="Arial"/>
              </a:defRPr>
            </a:pPr>
            <a:r>
              <a:rPr b="1">
                <a:solidFill>
                  <a:srgbClr val="6D28D9"/>
                </a:solidFill>
              </a:rPr>
              <a:t>•  INT4 generation</a:t>
            </a:r>
            <a:r>
              <a:rPr>
                <a:solidFill>
                  <a:srgbClr val="363752"/>
                </a:solidFill>
              </a:rPr>
              <a:t> for a smaller local footprint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4462272" y="1307592"/>
            <a:ext cx="3072384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718304" y="1554480"/>
            <a:ext cx="2596896" cy="34747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MEASURED ON CPU*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18304" y="1938528"/>
            <a:ext cx="2587752" cy="38404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200" b="1">
                <a:solidFill>
                  <a:srgbClr val="0F0F2A"/>
                </a:solidFill>
                <a:latin typeface="Arial"/>
              </a:defRPr>
            </a:pPr>
            <a:r>
              <a:t>0.5139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718304" y="2322576"/>
            <a:ext cx="2587752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NDCG@10 AppsRetrieval (baseline 0.0564)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718304" y="2788920"/>
            <a:ext cx="2587752" cy="38404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200" b="1">
                <a:solidFill>
                  <a:srgbClr val="0F0F2A"/>
                </a:solidFill>
                <a:latin typeface="Arial"/>
              </a:defRPr>
            </a:pPr>
            <a:r>
              <a:t>0.4696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718304" y="3172968"/>
            <a:ext cx="2587752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MRR@10 (baseline 0.0482)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18304" y="3639312"/>
            <a:ext cx="2587752" cy="38404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200" b="1">
                <a:solidFill>
                  <a:srgbClr val="0F0F2A"/>
                </a:solidFill>
                <a:latin typeface="Arial"/>
              </a:defRPr>
            </a:pPr>
            <a:r>
              <a:t>121 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18304" y="4023360"/>
            <a:ext cx="2587752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rebuild Express 4.21.2 (668 of 910 chunks reused)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718304" y="4489704"/>
            <a:ext cx="2587752" cy="38404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200" b="1">
                <a:solidFill>
                  <a:srgbClr val="0F0F2A"/>
                </a:solidFill>
                <a:latin typeface="Arial"/>
              </a:defRPr>
            </a:pPr>
            <a:r>
              <a:t>&lt; 450 ms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18304" y="4873752"/>
            <a:ext cx="2587752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prism search latency on CPU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727448" y="5385816"/>
            <a:ext cx="2514600" cy="23774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900" b="1">
                <a:solidFill>
                  <a:srgbClr val="DA8137"/>
                </a:solidFill>
                <a:latin typeface="Arial"/>
              </a:defRPr>
            </a:pPr>
            <a:r>
              <a:t>* Apple M2 Pro CPU, SFR-Code-400M. Details: prism/eval/RESULTS.md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772400" y="1307592"/>
            <a:ext cx="3566160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028431" y="1554480"/>
            <a:ext cx="3063240" cy="34747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CURRENT LIMITATIONS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001000" y="2011680"/>
            <a:ext cx="3063240" cy="3246120"/>
          </a:xfrm>
          <a:prstGeom prst="rect">
            <a:avLst/>
          </a:prstGeom>
          <a:noFill/>
        </p:spPr>
        <p:txBody>
          <a:bodyPr wrap="square" lIns="73152" rIns="45720" bIns="27432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363752"/>
                </a:solidFill>
                <a:latin typeface="Arial"/>
              </a:defRPr>
            </a:pPr>
            <a:r>
              <a:t>•  prism runs the code model on PyTorch CPU; our OpenVINO IR export is not accurate yet.</a:t>
            </a:r>
          </a:p>
          <a:p>
            <a:pPr>
              <a:spcAft>
                <a:spcPts val="700"/>
              </a:spcAft>
              <a:defRPr sz="1300">
                <a:solidFill>
                  <a:srgbClr val="363752"/>
                </a:solidFill>
                <a:latin typeface="Arial"/>
              </a:defRPr>
            </a:pPr>
            <a:r>
              <a:t>•  BM25 fusion lowered AppsRetrieval, so the benchmark run is dense only.</a:t>
            </a:r>
          </a:p>
          <a:p>
            <a:pPr>
              <a:spcAft>
                <a:spcPts val="700"/>
              </a:spcAft>
              <a:defRPr sz="1300">
                <a:solidFill>
                  <a:srgbClr val="363752"/>
                </a:solidFill>
                <a:latin typeface="Arial"/>
              </a:defRPr>
            </a:pPr>
            <a:r>
              <a:t>•  AST chunks for Python and JavaScript only; other files use line windows.</a:t>
            </a:r>
          </a:p>
          <a:p>
            <a:pPr>
              <a:spcAft>
                <a:spcPts val="700"/>
              </a:spcAft>
              <a:defRPr sz="1300">
                <a:solidFill>
                  <a:srgbClr val="363752"/>
                </a:solidFill>
                <a:latin typeface="Arial"/>
              </a:defRPr>
            </a:pPr>
            <a:r>
              <a:t>•  No reranker or query expansion yet.</a:t>
            </a:r>
          </a:p>
          <a:p>
            <a:pPr>
              <a:spcAft>
                <a:spcPts val="700"/>
              </a:spcAft>
              <a:defRPr sz="1300">
                <a:solidFill>
                  <a:srgbClr val="363752"/>
                </a:solidFill>
                <a:latin typeface="Arial"/>
              </a:defRPr>
            </a:pPr>
            <a:r>
              <a:t>•  Windows not tested; C++ model download still uses Python.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02920" y="6510528"/>
            <a:ext cx="11173968" cy="7315"/>
          </a:xfrm>
          <a:prstGeom prst="rect">
            <a:avLst/>
          </a:prstGeom>
          <a:solidFill>
            <a:srgbClr val="DC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66928" y="6547104"/>
            <a:ext cx="89611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800" b="0">
                <a:solidFill>
                  <a:srgbClr val="646582"/>
                </a:solidFill>
                <a:latin typeface="Arial"/>
              </a:defRPr>
            </a:pPr>
            <a:r>
              <a:t>Metrics and limitations taken from provided project description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109960" y="6519672"/>
            <a:ext cx="457200" cy="182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Arial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>
              <a:defRPr sz="3000" b="1">
                <a:solidFill>
                  <a:srgbClr val="774CB2"/>
                </a:solidFill>
                <a:latin typeface="Arial"/>
              </a:defRPr>
            </a:pPr>
            <a:r>
              <a:t>What’s Next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66928" y="1225296"/>
            <a:ext cx="10515600" cy="38404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2000" b="1">
                <a:solidFill>
                  <a:srgbClr val="0F0F2A"/>
                </a:solidFill>
                <a:latin typeface="Arial"/>
              </a:defRPr>
            </a:pPr>
            <a:r>
              <a:t>Roadmap from strong local RAG engine to benchmark-ready code intelligence.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1792" y="1901952"/>
            <a:ext cx="786384" cy="29260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000" b="1">
                <a:solidFill>
                  <a:srgbClr val="6D28D9"/>
                </a:solidFill>
                <a:latin typeface="Arial"/>
              </a:defRPr>
            </a:pPr>
            <a:r>
              <a:t>NOW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024128" y="2313432"/>
            <a:ext cx="0" cy="338328"/>
          </a:xfrm>
          <a:prstGeom prst="line">
            <a:avLst/>
          </a:prstGeom>
          <a:ln w="25400">
            <a:solidFill>
              <a:srgbClr val="DCD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923544" y="2185416"/>
            <a:ext cx="201168" cy="20116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481328" y="1883664"/>
            <a:ext cx="2743200" cy="31089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600" b="1">
                <a:solidFill>
                  <a:srgbClr val="0F0F2A"/>
                </a:solidFill>
                <a:latin typeface="Arial"/>
              </a:defRPr>
            </a:pPr>
            <a:r>
              <a:t>Harden prototype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160520" y="1883664"/>
            <a:ext cx="6784848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0">
                <a:solidFill>
                  <a:srgbClr val="363752"/>
                </a:solidFill>
                <a:latin typeface="Arial"/>
              </a:defRPr>
            </a:pPr>
            <a:r>
              <a:t>Reproducible build | smoke tests | demo capture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21792" y="2743200"/>
            <a:ext cx="786384" cy="29260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000" b="1">
                <a:solidFill>
                  <a:srgbClr val="6D28D9"/>
                </a:solidFill>
                <a:latin typeface="Arial"/>
              </a:defRPr>
            </a:pPr>
            <a:r>
              <a:t>NEXT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1024128" y="3154680"/>
            <a:ext cx="0" cy="338328"/>
          </a:xfrm>
          <a:prstGeom prst="line">
            <a:avLst/>
          </a:prstGeom>
          <a:ln w="25400">
            <a:solidFill>
              <a:srgbClr val="DCD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Oval 151"/>
          <p:cNvSpPr/>
          <p:nvPr/>
        </p:nvSpPr>
        <p:spPr>
          <a:xfrm>
            <a:off x="923544" y="3026664"/>
            <a:ext cx="201168" cy="20116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81328" y="2724912"/>
            <a:ext cx="2743200" cy="31089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600" b="1">
                <a:solidFill>
                  <a:srgbClr val="0F0F2A"/>
                </a:solidFill>
                <a:latin typeface="Arial"/>
              </a:defRPr>
            </a:pPr>
            <a:r>
              <a:t>Code retrieval adapter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160520" y="2724912"/>
            <a:ext cx="6784848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0">
                <a:solidFill>
                  <a:srgbClr val="363752"/>
                </a:solidFill>
                <a:latin typeface="Arial"/>
              </a:defRPr>
            </a:pPr>
            <a:r>
              <a:t>AST-aware chunks | symbols | path metadata | query expansion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21792" y="3584448"/>
            <a:ext cx="786384" cy="29260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000" b="1">
                <a:solidFill>
                  <a:srgbClr val="6D28D9"/>
                </a:solidFill>
                <a:latin typeface="Arial"/>
              </a:defRPr>
            </a:pPr>
            <a:r>
              <a:t>THEN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1024128" y="3995928"/>
            <a:ext cx="0" cy="338328"/>
          </a:xfrm>
          <a:prstGeom prst="line">
            <a:avLst/>
          </a:prstGeom>
          <a:ln w="25400">
            <a:solidFill>
              <a:srgbClr val="DCD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Oval 156"/>
          <p:cNvSpPr/>
          <p:nvPr/>
        </p:nvSpPr>
        <p:spPr>
          <a:xfrm>
            <a:off x="923544" y="3867911"/>
            <a:ext cx="201168" cy="20116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481328" y="3566160"/>
            <a:ext cx="2743200" cy="31089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600" b="1">
                <a:solidFill>
                  <a:srgbClr val="0F0F2A"/>
                </a:solidFill>
                <a:latin typeface="Arial"/>
              </a:defRPr>
            </a:pPr>
            <a:r>
              <a:t>Measure accuracy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60520" y="3566160"/>
            <a:ext cx="6784848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0">
                <a:solidFill>
                  <a:srgbClr val="363752"/>
                </a:solidFill>
                <a:latin typeface="Arial"/>
              </a:defRPr>
            </a:pPr>
            <a:r>
              <a:t>MTEB AppsRetrieval | NDCG@10 | MRR | ablations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1792" y="4425696"/>
            <a:ext cx="786384" cy="29260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000" b="1">
                <a:solidFill>
                  <a:srgbClr val="6D28D9"/>
                </a:solidFill>
                <a:latin typeface="Arial"/>
              </a:defRPr>
            </a:pPr>
            <a:r>
              <a:t>P1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1024128" y="4837176"/>
            <a:ext cx="0" cy="338328"/>
          </a:xfrm>
          <a:prstGeom prst="line">
            <a:avLst/>
          </a:prstGeom>
          <a:ln w="25400">
            <a:solidFill>
              <a:srgbClr val="DCD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923544" y="4709159"/>
            <a:ext cx="201168" cy="20116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481328" y="4407408"/>
            <a:ext cx="2743200" cy="31089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600" b="1">
                <a:solidFill>
                  <a:srgbClr val="0F0F2A"/>
                </a:solidFill>
                <a:latin typeface="Arial"/>
              </a:defRPr>
            </a:pPr>
            <a:r>
              <a:t>Version-aware index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60520" y="4407408"/>
            <a:ext cx="6784848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0">
                <a:solidFill>
                  <a:srgbClr val="363752"/>
                </a:solidFill>
                <a:latin typeface="Arial"/>
              </a:defRPr>
            </a:pPr>
            <a:r>
              <a:t>Commit metadata | incremental rebuilds | deduplicate near-identical snippets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21792" y="5266944"/>
            <a:ext cx="786384" cy="29260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000" b="1">
                <a:solidFill>
                  <a:srgbClr val="6D28D9"/>
                </a:solidFill>
                <a:latin typeface="Arial"/>
              </a:defRPr>
            </a:pPr>
            <a:r>
              <a:t>SCALE</a:t>
            </a:r>
          </a:p>
        </p:txBody>
      </p:sp>
      <p:sp>
        <p:nvSpPr>
          <p:cNvPr id="166" name="Oval 165"/>
          <p:cNvSpPr/>
          <p:nvPr/>
        </p:nvSpPr>
        <p:spPr>
          <a:xfrm>
            <a:off x="923544" y="5550407"/>
            <a:ext cx="201168" cy="20116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1481328" y="5248656"/>
            <a:ext cx="2743200" cy="31089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600" b="1">
                <a:solidFill>
                  <a:srgbClr val="0F0F2A"/>
                </a:solidFill>
                <a:latin typeface="Arial"/>
              </a:defRPr>
            </a:pPr>
            <a:r>
              <a:t>Broaden deployment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160520" y="5248656"/>
            <a:ext cx="6784848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0">
                <a:solidFill>
                  <a:srgbClr val="363752"/>
                </a:solidFill>
                <a:latin typeface="Arial"/>
              </a:defRPr>
            </a:pPr>
            <a:r>
              <a:t>GPU path | Web API | distributed indexing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02920" y="6510528"/>
            <a:ext cx="11173968" cy="7315"/>
          </a:xfrm>
          <a:prstGeom prst="rect">
            <a:avLst/>
          </a:prstGeom>
          <a:solidFill>
            <a:srgbClr val="DC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66928" y="6547104"/>
            <a:ext cx="89611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800" b="0">
                <a:solidFill>
                  <a:srgbClr val="646582"/>
                </a:solidFill>
                <a:latin typeface="Arial"/>
              </a:defRPr>
            </a:pPr>
            <a:r>
              <a:t>Based on provided project information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109960" y="6519672"/>
            <a:ext cx="457200" cy="182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Arial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>
              <a:defRPr sz="3000" b="1">
                <a:solidFill>
                  <a:srgbClr val="774CB2"/>
                </a:solidFill>
                <a:latin typeface="Arial"/>
              </a:defRPr>
            </a:pPr>
            <a:r>
              <a:t>Brownie Points | Differentiation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6928" y="1197864"/>
            <a:ext cx="10607040" cy="34747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800" b="1">
                <a:solidFill>
                  <a:srgbClr val="0F0F2A"/>
                </a:solidFill>
                <a:latin typeface="Arial"/>
              </a:defRPr>
            </a:pPr>
            <a:r>
              <a:t>OvaSearch pairs a native C++ multimodal engine with a CPU code retriever (prism).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66928" y="1755648"/>
            <a:ext cx="2971800" cy="566928"/>
          </a:xfrm>
          <a:prstGeom prst="rect">
            <a:avLst/>
          </a:prstGeom>
          <a:solidFill>
            <a:srgbClr val="0F0F2A"/>
          </a:solidFill>
          <a:ln w="12700">
            <a:solidFill>
              <a:srgbClr val="0F0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40080" y="1847088"/>
            <a:ext cx="2825496" cy="310896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Capability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538728" y="1755648"/>
            <a:ext cx="2057400" cy="566928"/>
          </a:xfrm>
          <a:prstGeom prst="rect">
            <a:avLst/>
          </a:prstGeom>
          <a:solidFill>
            <a:srgbClr val="0F0F2A"/>
          </a:solidFill>
          <a:ln w="12700">
            <a:solidFill>
              <a:srgbClr val="0F0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611880" y="1847088"/>
            <a:ext cx="1911095" cy="310896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OvaSearch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596128" y="1755648"/>
            <a:ext cx="2057400" cy="566928"/>
          </a:xfrm>
          <a:prstGeom prst="rect">
            <a:avLst/>
          </a:prstGeom>
          <a:solidFill>
            <a:srgbClr val="0F0F2A"/>
          </a:solidFill>
          <a:ln w="12700">
            <a:solidFill>
              <a:srgbClr val="0F0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669280" y="1847088"/>
            <a:ext cx="1911095" cy="310896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Typical Python RAG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653528" y="1755648"/>
            <a:ext cx="2057400" cy="566928"/>
          </a:xfrm>
          <a:prstGeom prst="rect">
            <a:avLst/>
          </a:prstGeom>
          <a:solidFill>
            <a:srgbClr val="0F0F2A"/>
          </a:solidFill>
          <a:ln w="12700">
            <a:solidFill>
              <a:srgbClr val="0F0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726680" y="1847088"/>
            <a:ext cx="1911095" cy="310896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Cloud multimodal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710928" y="1755648"/>
            <a:ext cx="2057400" cy="566928"/>
          </a:xfrm>
          <a:prstGeom prst="rect">
            <a:avLst/>
          </a:prstGeom>
          <a:solidFill>
            <a:srgbClr val="0F0F2A"/>
          </a:solidFill>
          <a:ln w="12700">
            <a:solidFill>
              <a:srgbClr val="0F0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784080" y="1847088"/>
            <a:ext cx="1911095" cy="310896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Code retriever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66928" y="2322576"/>
            <a:ext cx="29718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94944" y="2414016"/>
            <a:ext cx="277063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1">
                <a:solidFill>
                  <a:srgbClr val="0F0F2A"/>
                </a:solidFill>
                <a:latin typeface="Arial"/>
              </a:defRPr>
            </a:pPr>
            <a:r>
              <a:t>Native C++ inference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538728" y="2322576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611880" y="2414016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596128" y="2322576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669280" y="2414016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C94646"/>
                </a:solidFill>
                <a:latin typeface="Arial"/>
              </a:defRPr>
            </a:pPr>
            <a:r>
              <a:t>NO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653528" y="2322576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7726680" y="2414016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C94646"/>
                </a:solidFill>
                <a:latin typeface="Arial"/>
              </a:defRPr>
            </a:pPr>
            <a:r>
              <a:t>NO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9710928" y="2322576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84080" y="2414016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DA8137"/>
                </a:solidFill>
                <a:latin typeface="Arial"/>
              </a:defRPr>
            </a:pPr>
            <a:r>
              <a:t>VARIES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66928" y="2852928"/>
            <a:ext cx="2971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94944" y="2944368"/>
            <a:ext cx="277063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1">
                <a:solidFill>
                  <a:srgbClr val="0F0F2A"/>
                </a:solidFill>
                <a:latin typeface="Arial"/>
              </a:defRPr>
            </a:pPr>
            <a:r>
              <a:t>Local/offline pipeline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538728" y="2852928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611880" y="2944368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596128" y="2852928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5669280" y="2944368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653528" y="2852928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726680" y="2944368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C94646"/>
                </a:solidFill>
                <a:latin typeface="Arial"/>
              </a:defRPr>
            </a:pPr>
            <a:r>
              <a:t>NO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9710928" y="2852928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784080" y="2944368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66928" y="3383280"/>
            <a:ext cx="29718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94944" y="3474720"/>
            <a:ext cx="277063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1">
                <a:solidFill>
                  <a:srgbClr val="0F0F2A"/>
                </a:solidFill>
                <a:latin typeface="Arial"/>
              </a:defRPr>
            </a:pPr>
            <a:r>
              <a:t>Text + image retrieval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3538728" y="3383280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3611880" y="3474720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5596128" y="3383280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669280" y="3474720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DA8137"/>
                </a:solidFill>
                <a:latin typeface="Arial"/>
              </a:defRPr>
            </a:pPr>
            <a:r>
              <a:t>LIMITED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7653528" y="3383280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726680" y="3474720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9710928" y="3383280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784080" y="3474720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DA8137"/>
                </a:solidFill>
                <a:latin typeface="Arial"/>
              </a:defRPr>
            </a:pPr>
            <a:r>
              <a:t>LIMITED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66928" y="3913632"/>
            <a:ext cx="2971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94944" y="4005072"/>
            <a:ext cx="277063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1">
                <a:solidFill>
                  <a:srgbClr val="0F0F2A"/>
                </a:solidFill>
                <a:latin typeface="Arial"/>
              </a:defRPr>
            </a:pPr>
            <a:r>
              <a:t>OpenVINO acceleration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538728" y="3913632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611880" y="4005072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5596128" y="3913632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5669280" y="4005072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DA8137"/>
                </a:solidFill>
                <a:latin typeface="Arial"/>
              </a:defRPr>
            </a:pPr>
            <a:r>
              <a:t>OPTIONAL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653528" y="3913632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726680" y="4005072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C94646"/>
                </a:solidFill>
                <a:latin typeface="Arial"/>
              </a:defRPr>
            </a:pPr>
            <a:r>
              <a:t>NO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9710928" y="3913632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9784080" y="4005072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DA8137"/>
                </a:solidFill>
                <a:latin typeface="Arial"/>
              </a:defRPr>
            </a:pPr>
            <a:r>
              <a:t>OPTIONAL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66928" y="4443984"/>
            <a:ext cx="29718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4535424"/>
            <a:ext cx="277063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1">
                <a:solidFill>
                  <a:srgbClr val="0F0F2A"/>
                </a:solidFill>
                <a:latin typeface="Arial"/>
              </a:defRPr>
            </a:pPr>
            <a:r>
              <a:t>Persistent cache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3538728" y="4443984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3611880" y="4535424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5596128" y="4443984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669280" y="4535424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DA8137"/>
                </a:solidFill>
                <a:latin typeface="Arial"/>
              </a:defRPr>
            </a:pPr>
            <a:r>
              <a:t>VARIES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7653528" y="4443984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726680" y="4535424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C94646"/>
                </a:solidFill>
                <a:latin typeface="Arial"/>
              </a:defRPr>
            </a:pPr>
            <a:r>
              <a:t>SERVICE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9710928" y="4443984"/>
            <a:ext cx="2057400" cy="530352"/>
          </a:xfrm>
          <a:prstGeom prst="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9784080" y="4535424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DA8137"/>
                </a:solidFill>
                <a:latin typeface="Arial"/>
              </a:defRPr>
            </a:pPr>
            <a:r>
              <a:t>VARIES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566928" y="4974336"/>
            <a:ext cx="2971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94944" y="5065776"/>
            <a:ext cx="277063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1">
                <a:solidFill>
                  <a:srgbClr val="0F0F2A"/>
                </a:solidFill>
                <a:latin typeface="Arial"/>
              </a:defRPr>
            </a:pPr>
            <a:r>
              <a:t>Code benchmark ready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3538728" y="4974336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3611880" y="5065776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DA8137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596128" y="4974336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5669280" y="5065776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DA8137"/>
                </a:solidFill>
                <a:latin typeface="Arial"/>
              </a:defRPr>
            </a:pPr>
            <a:r>
              <a:t>VARIES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653528" y="4974336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726680" y="5065776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C94646"/>
                </a:solidFill>
                <a:latin typeface="Arial"/>
              </a:defRPr>
            </a:pPr>
            <a:r>
              <a:t>NO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9710928" y="4974336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9784080" y="5065776"/>
            <a:ext cx="1911095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0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03504" y="5742432"/>
            <a:ext cx="1056132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Arial"/>
              </a:defRPr>
            </a:pPr>
            <a:r>
              <a:t>Key distinction: local multimodal retrieval plus a measured CPU code retriever with version-aware search.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502920" y="6510528"/>
            <a:ext cx="11173968" cy="7315"/>
          </a:xfrm>
          <a:prstGeom prst="rect">
            <a:avLst/>
          </a:prstGeom>
          <a:solidFill>
            <a:srgbClr val="DC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566928" y="6547104"/>
            <a:ext cx="89611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800" b="0">
                <a:solidFill>
                  <a:srgbClr val="646582"/>
                </a:solidFill>
                <a:latin typeface="Arial"/>
              </a:defRPr>
            </a:pPr>
            <a:r>
              <a:t>Based on provided project information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1109960" y="6519672"/>
            <a:ext cx="457200" cy="182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>
              <a:defRPr sz="3000" b="1">
                <a:solidFill>
                  <a:srgbClr val="774CB2"/>
                </a:solidFill>
                <a:latin typeface="Arial"/>
              </a:defRPr>
            </a:pPr>
            <a:r>
              <a:t>Submission Checklist | Public GitHub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6928" y="1207008"/>
            <a:ext cx="10515600" cy="3200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700" b="1">
                <a:solidFill>
                  <a:srgbClr val="0F0F2A"/>
                </a:solidFill>
                <a:latin typeface="Arial"/>
              </a:defRPr>
            </a:pPr>
            <a:r>
              <a:t>Repository: github.com/lagmator22/OvaSearch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66928" y="1719072"/>
            <a:ext cx="10735056" cy="603504"/>
          </a:xfrm>
          <a:prstGeom prst="roundRect">
            <a:avLst/>
          </a:prstGeom>
          <a:solidFill>
            <a:srgbClr val="F4E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8096" y="1837943"/>
            <a:ext cx="33375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0F0F2A"/>
                </a:solidFill>
                <a:latin typeface="Arial"/>
              </a:defRPr>
            </a:pPr>
            <a:r>
              <a:t>Working prototype code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270248" y="1837943"/>
            <a:ext cx="107899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1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596128" y="1837943"/>
            <a:ext cx="5413248" cy="2926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Public repository link supplied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66928" y="2414015"/>
            <a:ext cx="10735056" cy="603504"/>
          </a:xfrm>
          <a:prstGeom prst="roundRect">
            <a:avLst/>
          </a:prstGeom>
          <a:solidFill>
            <a:srgbClr val="F4E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768096" y="2532887"/>
            <a:ext cx="33375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0F0F2A"/>
                </a:solidFill>
                <a:latin typeface="Arial"/>
              </a:defRPr>
            </a:pPr>
            <a:r>
              <a:t>README + reproducible setup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270248" y="2532887"/>
            <a:ext cx="107899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1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596128" y="2532887"/>
            <a:ext cx="5413248" cy="2926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Clone, model download, build and usage steps supplied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6928" y="3108959"/>
            <a:ext cx="10735056" cy="603504"/>
          </a:xfrm>
          <a:prstGeom prst="round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8096" y="3227831"/>
            <a:ext cx="33375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0F0F2A"/>
                </a:solidFill>
                <a:latin typeface="Arial"/>
              </a:defRPr>
            </a:pPr>
            <a:r>
              <a:t>Demo video ≤ 5 minutes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70248" y="3227831"/>
            <a:ext cx="107899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100" b="1">
                <a:solidFill>
                  <a:srgbClr val="DA8137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596128" y="3227831"/>
            <a:ext cx="5413248" cy="2926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rPr>
                <a:hlinkClick r:id="rId3"/>
              </a:rPr>
              <a:t>drive.google.com/file/d/1lrPoPA8nCbHOSsjEkVldNYA3m0ZxI8St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566928" y="3803903"/>
            <a:ext cx="10735056" cy="603504"/>
          </a:xfrm>
          <a:prstGeom prst="roundRect">
            <a:avLst/>
          </a:prstGeom>
          <a:solidFill>
            <a:srgbClr val="F4EFFF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68096" y="3922775"/>
            <a:ext cx="33375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0F0F2A"/>
                </a:solidFill>
                <a:latin typeface="Arial"/>
              </a:defRPr>
            </a:pPr>
            <a:r>
              <a:t>Presentation file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270248" y="3922775"/>
            <a:ext cx="107899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100" b="1">
                <a:solidFill>
                  <a:srgbClr val="26915F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596128" y="3922775"/>
            <a:ext cx="5413248" cy="2926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Completed in supplied template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66928" y="4498847"/>
            <a:ext cx="10735056" cy="603504"/>
          </a:xfrm>
          <a:prstGeom prst="round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768096" y="4617719"/>
            <a:ext cx="33375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0F0F2A"/>
                </a:solidFill>
                <a:latin typeface="Arial"/>
              </a:defRPr>
            </a:pPr>
            <a:r>
              <a:t>MTEB AppsRetrieval result JSON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270248" y="4617719"/>
            <a:ext cx="107899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100" b="1">
                <a:solidFill>
                  <a:srgbClr val="DA8137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596128" y="4617719"/>
            <a:ext cx="5413248" cy="2926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appsretrieval_results.json: NDCG@10 0.5139, MRR@10 0.4696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66928" y="5193791"/>
            <a:ext cx="10735056" cy="603504"/>
          </a:xfrm>
          <a:prstGeom prst="roundRect">
            <a:avLst/>
          </a:prstGeom>
          <a:solidFill>
            <a:srgbClr val="F9F8FC"/>
          </a:solidFill>
          <a:ln w="12700">
            <a:solidFill>
              <a:srgbClr val="DC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68096" y="5312663"/>
            <a:ext cx="33375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0F0F2A"/>
                </a:solidFill>
                <a:latin typeface="Arial"/>
              </a:defRPr>
            </a:pPr>
            <a:r>
              <a:t>GitHub Release artifacts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270248" y="5312663"/>
            <a:ext cx="107899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100" b="1">
                <a:solidFill>
                  <a:srgbClr val="DA8137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596128" y="5312663"/>
            <a:ext cx="5413248" cy="2926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646582"/>
                </a:solidFill>
                <a:latin typeface="Arial"/>
              </a:defRPr>
            </a:pPr>
            <a:r>
              <a:t>Tag PRISM_GENAI_HACKATHON_Y2026 with JSON, PPTX and PDF attached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03504" y="6071616"/>
            <a:ext cx="10515600" cy="23774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1100" b="1">
                <a:solidFill>
                  <a:srgbClr val="C94646"/>
                </a:solidFill>
                <a:latin typeface="Arial"/>
              </a:defRPr>
            </a:pPr>
            <a:r>
              <a:rPr>
                <a:hlinkClick r:id="rId4"/>
              </a:rPr>
              <a:t>Release: github.com/Lagmator22/OvaSearch/releases/tag/PRISM_GENAI_HACKATHON_Y2026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502920" y="6510528"/>
            <a:ext cx="11173968" cy="7315"/>
          </a:xfrm>
          <a:prstGeom prst="rect">
            <a:avLst/>
          </a:prstGeom>
          <a:solidFill>
            <a:srgbClr val="DC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66928" y="6547104"/>
            <a:ext cx="89611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800" b="0">
                <a:solidFill>
                  <a:srgbClr val="646582"/>
                </a:solidFill>
                <a:latin typeface="Arial"/>
              </a:defRPr>
            </a:pPr>
            <a:r>
              <a:t>Checklist reflects only information supplied in this request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109960" y="6519672"/>
            <a:ext cx="457200" cy="182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6995160" y="2450592"/>
            <a:ext cx="4160520" cy="6583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defRPr sz="4600" b="1">
                <a:solidFill>
                  <a:srgbClr val="6D28D9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13232" y="2057400"/>
            <a:ext cx="5074920" cy="53035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3100" b="1">
                <a:solidFill>
                  <a:srgbClr val="0F0F2A"/>
                </a:solidFill>
                <a:latin typeface="Arial"/>
              </a:defRPr>
            </a:pPr>
            <a:r>
              <a:t>OvaSearch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31520" y="2688336"/>
            <a:ext cx="566928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800" b="0">
                <a:solidFill>
                  <a:srgbClr val="646582"/>
                </a:solidFill>
                <a:latin typeface="Arial"/>
              </a:defRPr>
            </a:pPr>
            <a:r>
              <a:t>Fast local multimodal retrieval in native C++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31520" y="3337560"/>
            <a:ext cx="5303520" cy="2926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Arial"/>
              </a:defRPr>
            </a:pPr>
            <a:r>
              <a:t>TEAM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31520" y="3675887"/>
            <a:ext cx="5394960" cy="1042415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700" b="1">
                <a:solidFill>
                  <a:srgbClr val="0F0F2A"/>
                </a:solidFill>
                <a:latin typeface="Arial"/>
              </a:defRPr>
            </a:pPr>
            <a:r>
              <a:t>Gurman Singh  |  Harkamal Singh</a:t>
            </a:r>
            <a:br/>
            <a:r>
              <a:t>Manraj Singh  |  Dhruv Srivastava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31520" y="4754880"/>
            <a:ext cx="5806440" cy="74980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100" b="0">
                <a:solidFill>
                  <a:srgbClr val="363752"/>
                </a:solidFill>
                <a:latin typeface="Arial"/>
              </a:defRPr>
            </a:pPr>
            <a:r>
              <a:t>gsingh16_be24@thapar.edu  |  hlubana_be24@thapar.edu</a:t>
            </a:r>
            <a:br/>
            <a:r>
              <a:t>msingh17_be24@thapar.edu  |  dhruvsri54@gmail.com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31520" y="5541264"/>
            <a:ext cx="5760720" cy="31089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defRPr sz="1300" b="1">
                <a:solidFill>
                  <a:srgbClr val="6D28D9"/>
                </a:solidFill>
                <a:latin typeface="Arial"/>
              </a:defRPr>
            </a:pPr>
            <a:r>
              <a:t>github.com/lagmator22/OvaSearch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